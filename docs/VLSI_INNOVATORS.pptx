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70" r:id="rId10"/>
    <p:sldId id="267" r:id="rId11"/>
    <p:sldId id="268" r:id="rId12"/>
    <p:sldId id="266" r:id="rId13"/>
    <p:sldId id="263" r:id="rId14"/>
    <p:sldId id="264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9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34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76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5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456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03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98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85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84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72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921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7180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24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133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432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359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364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4E3CD-6045-4288-B091-2A3F6882F13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2445-4B88-43CA-ABA1-B000881442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45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2" r:id="rId8"/>
    <p:sldLayoutId id="2147484253" r:id="rId9"/>
    <p:sldLayoutId id="2147484254" r:id="rId10"/>
    <p:sldLayoutId id="2147484255" r:id="rId11"/>
    <p:sldLayoutId id="2147484256" r:id="rId12"/>
    <p:sldLayoutId id="2147484257" r:id="rId13"/>
    <p:sldLayoutId id="2147484258" r:id="rId14"/>
    <p:sldLayoutId id="2147484259" r:id="rId15"/>
    <p:sldLayoutId id="2147484260" r:id="rId16"/>
    <p:sldLayoutId id="21474842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9700" y="361605"/>
            <a:ext cx="1192529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/>
          </a:p>
          <a:p>
            <a:endParaRPr lang="en-IN" b="1" dirty="0"/>
          </a:p>
          <a:p>
            <a:r>
              <a:rPr lang="en-IN" sz="2400" b="1" dirty="0"/>
              <a:t>Design and Implementation of 8-Bit ALU Using VHDL</a:t>
            </a:r>
          </a:p>
          <a:p>
            <a:endParaRPr lang="en-IN" sz="2400" dirty="0"/>
          </a:p>
          <a:p>
            <a:r>
              <a:rPr lang="en-IN" sz="2400" dirty="0"/>
              <a:t>Course: VLSI</a:t>
            </a:r>
            <a:br>
              <a:rPr lang="en-IN" sz="2400" dirty="0"/>
            </a:br>
            <a:r>
              <a:rPr lang="en-IN" sz="2400" dirty="0"/>
              <a:t>Technology: VHDL</a:t>
            </a:r>
            <a:br>
              <a:rPr lang="en-IN" sz="2400" dirty="0"/>
            </a:br>
            <a:r>
              <a:rPr lang="en-IN" sz="2400" dirty="0"/>
              <a:t>Simulation Tool: </a:t>
            </a:r>
            <a:r>
              <a:rPr lang="en-IN" sz="2400" dirty="0" err="1"/>
              <a:t>ModelSim</a:t>
            </a:r>
            <a:br>
              <a:rPr lang="en-IN" sz="2400" dirty="0"/>
            </a:br>
            <a:r>
              <a:rPr lang="en-IN" sz="2400" dirty="0"/>
              <a:t>Implementation Tool: Xilinx </a:t>
            </a:r>
            <a:r>
              <a:rPr lang="en-IN" sz="2400" dirty="0" err="1"/>
              <a:t>Vivado</a:t>
            </a:r>
            <a:br>
              <a:rPr lang="en-IN" sz="2400" dirty="0"/>
            </a:br>
            <a:r>
              <a:rPr lang="en-IN" sz="2400" dirty="0"/>
              <a:t>Target FPGA: PINE S7 (Spartan-7 XC7S15FTGB196-1)</a:t>
            </a:r>
            <a:br>
              <a:rPr lang="en-IN" sz="2400" dirty="0"/>
            </a:br>
            <a:r>
              <a:rPr lang="en-IN" sz="2400" dirty="0"/>
              <a:t>Presented by: Team VLSI Innovators</a:t>
            </a:r>
            <a:br>
              <a:rPr lang="en-IN" sz="2400" dirty="0"/>
            </a:br>
            <a:r>
              <a:rPr lang="en-IN" sz="2400" dirty="0"/>
              <a:t>Date: 27/02/2026</a:t>
            </a:r>
          </a:p>
        </p:txBody>
      </p:sp>
    </p:spTree>
    <p:extLst>
      <p:ext uri="{BB962C8B-B14F-4D97-AF65-F5344CB8AC3E}">
        <p14:creationId xmlns:p14="http://schemas.microsoft.com/office/powerpoint/2010/main" val="348950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5048" y="260017"/>
            <a:ext cx="1173896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Introduction to ALU</a:t>
            </a:r>
          </a:p>
          <a:p>
            <a:endParaRPr lang="en-US" sz="2400" b="1" dirty="0"/>
          </a:p>
          <a:p>
            <a:r>
              <a:rPr lang="en-US" sz="2400" dirty="0"/>
              <a:t>ALU = Arithmetic Logic Unit</a:t>
            </a:r>
          </a:p>
          <a:p>
            <a:r>
              <a:rPr lang="en-US" sz="2400" dirty="0"/>
              <a:t>Core component of CPU</a:t>
            </a:r>
          </a:p>
          <a:p>
            <a:r>
              <a:rPr lang="en-US" sz="2400" dirty="0"/>
              <a:t>Performs arithmetic and logical operations</a:t>
            </a:r>
          </a:p>
          <a:p>
            <a:r>
              <a:rPr lang="en-US" sz="2400" dirty="0"/>
              <a:t>Operates on binary data</a:t>
            </a:r>
          </a:p>
          <a:p>
            <a:r>
              <a:rPr lang="en-US" sz="2400" dirty="0"/>
              <a:t>Controlled using selection signals</a:t>
            </a:r>
          </a:p>
          <a:p>
            <a:r>
              <a:rPr lang="en-US" sz="2400" dirty="0"/>
              <a:t>Produces result output</a:t>
            </a:r>
          </a:p>
        </p:txBody>
      </p:sp>
    </p:spTree>
    <p:extLst>
      <p:ext uri="{BB962C8B-B14F-4D97-AF65-F5344CB8AC3E}">
        <p14:creationId xmlns:p14="http://schemas.microsoft.com/office/powerpoint/2010/main" val="3049039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00" y="1"/>
            <a:ext cx="10934699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                                            </a:t>
            </a:r>
            <a:r>
              <a:rPr lang="en-US" sz="2400" b="1" dirty="0"/>
              <a:t>Project Objective</a:t>
            </a:r>
          </a:p>
          <a:p>
            <a:endParaRPr lang="en-US" b="1" dirty="0"/>
          </a:p>
          <a:p>
            <a:r>
              <a:rPr lang="en-US" b="1" dirty="0"/>
              <a:t>Aim of the Project</a:t>
            </a:r>
          </a:p>
          <a:p>
            <a:endParaRPr lang="en-US" dirty="0"/>
          </a:p>
          <a:p>
            <a:r>
              <a:rPr lang="en-US" dirty="0"/>
              <a:t>    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Why 8-bit?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Simple and efficient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Suitable for learning processor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Moderate hardware complexity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4FC45CF-EA58-338A-634F-396A58B22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801" y="1106121"/>
            <a:ext cx="52405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8-bit ALU using VHDL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16 operations using 4-bit select 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multiplication (lower 8 bits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division with divide-by-zero protection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ModelSim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on PINE S7 FPGA</a:t>
            </a:r>
          </a:p>
        </p:txBody>
      </p:sp>
    </p:spTree>
    <p:extLst>
      <p:ext uri="{BB962C8B-B14F-4D97-AF65-F5344CB8AC3E}">
        <p14:creationId xmlns:p14="http://schemas.microsoft.com/office/powerpoint/2010/main" val="53492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551" y="0"/>
            <a:ext cx="11100262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                                      </a:t>
            </a:r>
            <a:r>
              <a:rPr lang="en-US" sz="2400" b="1" dirty="0"/>
              <a:t>Functional Operations (16 Operations</a:t>
            </a:r>
            <a:r>
              <a:rPr lang="en-US" b="1" dirty="0"/>
              <a:t>)</a:t>
            </a:r>
          </a:p>
          <a:p>
            <a:r>
              <a:rPr lang="en-US" sz="2400" b="1" dirty="0"/>
              <a:t>Arithmetic Operations</a:t>
            </a:r>
            <a:endParaRPr lang="en-US" sz="2400" dirty="0"/>
          </a:p>
          <a:p>
            <a:r>
              <a:rPr lang="en-US" dirty="0"/>
              <a:t>1. </a:t>
            </a:r>
          </a:p>
          <a:p>
            <a:r>
              <a:rPr lang="en-US" dirty="0"/>
              <a:t>2.</a:t>
            </a:r>
          </a:p>
          <a:p>
            <a:r>
              <a:rPr lang="en-US" dirty="0"/>
              <a:t>3.</a:t>
            </a:r>
          </a:p>
          <a:p>
            <a:r>
              <a:rPr lang="en-US" dirty="0"/>
              <a:t>4.</a:t>
            </a:r>
          </a:p>
          <a:p>
            <a:r>
              <a:rPr lang="en-US" dirty="0"/>
              <a:t>5.</a:t>
            </a:r>
          </a:p>
          <a:p>
            <a:r>
              <a:rPr lang="en-US" dirty="0"/>
              <a:t>6</a:t>
            </a:r>
          </a:p>
          <a:p>
            <a:r>
              <a:rPr lang="en-US" sz="2400" b="1" dirty="0"/>
              <a:t>Logical Operations</a:t>
            </a:r>
            <a:endParaRPr lang="en-US" sz="2400" dirty="0"/>
          </a:p>
          <a:p>
            <a:pPr>
              <a:buFont typeface="+mj-lt"/>
              <a:buAutoNum type="arabicPeriod" startAt="7"/>
            </a:pPr>
            <a:r>
              <a:rPr lang="en-US" dirty="0"/>
              <a:t>AND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OR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XOR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XNOR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NAND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NOR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NOT A</a:t>
            </a:r>
          </a:p>
          <a:p>
            <a:pPr>
              <a:buFont typeface="+mj-lt"/>
              <a:buAutoNum type="arabicPeriod" startAt="7"/>
            </a:pPr>
            <a:r>
              <a:rPr lang="en-US" dirty="0"/>
              <a:t>NOT B</a:t>
            </a:r>
          </a:p>
          <a:p>
            <a:pPr>
              <a:buFont typeface="+mj-lt"/>
              <a:buAutoNum type="arabicPeriod" startAt="7"/>
            </a:pPr>
            <a:endParaRPr lang="en-US" dirty="0"/>
          </a:p>
          <a:p>
            <a:r>
              <a:rPr lang="en-US" sz="2400" b="1" dirty="0"/>
              <a:t>Shift Operations</a:t>
            </a:r>
            <a:endParaRPr lang="en-US" sz="2400" dirty="0"/>
          </a:p>
          <a:p>
            <a:pPr>
              <a:buFont typeface="+mj-lt"/>
              <a:buAutoNum type="arabicPeriod" startAt="15"/>
            </a:pPr>
            <a:r>
              <a:rPr lang="en-US" dirty="0"/>
              <a:t>Logical Left Shift</a:t>
            </a:r>
          </a:p>
          <a:p>
            <a:pPr>
              <a:buFont typeface="+mj-lt"/>
              <a:buAutoNum type="arabicPeriod" startAt="15"/>
            </a:pPr>
            <a:r>
              <a:rPr lang="en-US" dirty="0"/>
              <a:t>Logical Right Shift</a:t>
            </a:r>
          </a:p>
          <a:p>
            <a:r>
              <a:rPr lang="en-US" dirty="0"/>
              <a:t>(Controlled using 4-bit select input S3 S2 S1 S0)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C66E8-5B2F-99A5-A927-BBE1C9E01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59" y="16026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(A +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 (A − 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 (Lower 8 bits only)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 (With zero check)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 (A + 1)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 (A − 1)</a:t>
            </a:r>
          </a:p>
        </p:txBody>
      </p:sp>
    </p:spTree>
    <p:extLst>
      <p:ext uri="{BB962C8B-B14F-4D97-AF65-F5344CB8AC3E}">
        <p14:creationId xmlns:p14="http://schemas.microsoft.com/office/powerpoint/2010/main" val="100091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6448" y="0"/>
            <a:ext cx="985805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                                                                      </a:t>
            </a:r>
            <a:r>
              <a:rPr lang="en-IN" sz="2400" b="1" dirty="0"/>
              <a:t>Block Diagram Description</a:t>
            </a:r>
          </a:p>
          <a:p>
            <a:endParaRPr lang="en-IN" b="1" dirty="0"/>
          </a:p>
          <a:p>
            <a:r>
              <a:rPr lang="en-IN" sz="2400" b="1" dirty="0"/>
              <a:t>Main Components of the ALU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Two 8-bit Inputs (A and 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4-bit Selection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Arithmetic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Logic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Shifter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16-to-1 Multiplexer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Status Flag Generator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400" b="1" dirty="0"/>
              <a:t>Output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8-bit Result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Flags: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Carry (C)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Zero (Z)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Sign (S)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Overflow (V)</a:t>
            </a:r>
          </a:p>
        </p:txBody>
      </p:sp>
    </p:spTree>
    <p:extLst>
      <p:ext uri="{BB962C8B-B14F-4D97-AF65-F5344CB8AC3E}">
        <p14:creationId xmlns:p14="http://schemas.microsoft.com/office/powerpoint/2010/main" val="245147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39754" y="1894343"/>
            <a:ext cx="10856945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/>
              <a:t>Used IEEE.STD_LOGIC_1164.ALL</a:t>
            </a:r>
          </a:p>
          <a:p>
            <a:r>
              <a:rPr lang="en-IN" sz="2400" dirty="0"/>
              <a:t>Used IEEE.NUMERIC_STD.ALL</a:t>
            </a:r>
          </a:p>
          <a:p>
            <a:r>
              <a:rPr lang="en-IN" sz="2400" dirty="0"/>
              <a:t>Inputs converted to unsigned for arithmetic</a:t>
            </a:r>
          </a:p>
          <a:p>
            <a:r>
              <a:rPr lang="en-IN" sz="2400" dirty="0"/>
              <a:t>Case statement used for operation selection</a:t>
            </a:r>
          </a:p>
          <a:p>
            <a:r>
              <a:rPr lang="en-IN" sz="2400" dirty="0"/>
              <a:t>Combinational process block</a:t>
            </a:r>
          </a:p>
          <a:p>
            <a:r>
              <a:rPr lang="en-IN" sz="2400" dirty="0"/>
              <a:t>Result converted back to STD_LOGIC_VECTOR</a:t>
            </a:r>
          </a:p>
          <a:p>
            <a:r>
              <a:rPr lang="en-IN" sz="2400" dirty="0"/>
              <a:t>Industry-standard coding practice followed.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07048" y="183634"/>
            <a:ext cx="3427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VHDL Design Approach</a:t>
            </a:r>
            <a:endParaRPr lang="en-IN" sz="2400" dirty="0"/>
          </a:p>
        </p:txBody>
      </p:sp>
      <p:sp>
        <p:nvSpPr>
          <p:cNvPr id="9" name="Rectangle 8"/>
          <p:cNvSpPr/>
          <p:nvPr/>
        </p:nvSpPr>
        <p:spPr>
          <a:xfrm>
            <a:off x="609600" y="270589"/>
            <a:ext cx="33185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Design Methodology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0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3200" y="241300"/>
            <a:ext cx="11303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                                                                     </a:t>
            </a:r>
            <a:r>
              <a:rPr lang="en-IN" sz="2400" b="1" dirty="0"/>
              <a:t>Simulation and Results</a:t>
            </a:r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6E0C32-33BA-9D3D-62C8-606EB86D2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7" y="833659"/>
            <a:ext cx="601299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Simulated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ModelSim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16 operations tested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= 00001111 (15)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= 00111000 (56)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 → 840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= 01001000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Division by zero → Output = 00000000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Waveforms confirmed correct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55249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33900" y="381000"/>
            <a:ext cx="3464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SIMULATION AND RESULT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1A2504-353D-2E67-FDEB-C5C059032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1581"/>
            <a:ext cx="12192000" cy="325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4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2452-17E6-D137-B625-ED73E0B9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SIMULATION AND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F2EB8-65A4-0B9A-A200-558B9FAC4A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9794"/>
            <a:ext cx="12422064" cy="261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72F9-DBCF-4D63-AAB5-70C51172F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FPGA Hardware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49D11-B4FE-E88C-A60D-E4D4B91CA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Target Board: PINE S7 Spartan-7</a:t>
            </a:r>
          </a:p>
          <a:p>
            <a:r>
              <a:rPr lang="en-IN" dirty="0"/>
              <a:t>Input Mapping:                                             </a:t>
            </a:r>
          </a:p>
          <a:p>
            <a:r>
              <a:rPr lang="en-IN" dirty="0"/>
              <a:t>SLIDE_SW[7:0] → Input A</a:t>
            </a:r>
          </a:p>
          <a:p>
            <a:r>
              <a:rPr lang="en-IN" dirty="0"/>
              <a:t>SLIDE_SW[15:8] → Input B</a:t>
            </a:r>
          </a:p>
          <a:p>
            <a:r>
              <a:rPr lang="en-IN" dirty="0"/>
              <a:t>Push Buttons → SEL</a:t>
            </a:r>
          </a:p>
          <a:p>
            <a:r>
              <a:rPr lang="en-IN" dirty="0"/>
              <a:t>Output Mapping:</a:t>
            </a:r>
          </a:p>
          <a:p>
            <a:r>
              <a:rPr lang="en-IN" dirty="0"/>
              <a:t>LED[7:0] → ALU Output</a:t>
            </a:r>
          </a:p>
          <a:p>
            <a:r>
              <a:rPr lang="en-IN" dirty="0"/>
              <a:t>Constraint file (.</a:t>
            </a:r>
            <a:r>
              <a:rPr lang="en-IN" dirty="0" err="1"/>
              <a:t>xdc</a:t>
            </a:r>
            <a:r>
              <a:rPr lang="en-IN" dirty="0"/>
              <a:t>) used for pin mapping.</a:t>
            </a:r>
          </a:p>
          <a:p>
            <a:endParaRPr lang="en-IN" dirty="0"/>
          </a:p>
        </p:txBody>
      </p:sp>
      <p:pic>
        <p:nvPicPr>
          <p:cNvPr id="6" name="Picture 5" descr="alt text">
            <a:extLst>
              <a:ext uri="{FF2B5EF4-FFF2-40B4-BE49-F238E27FC236}">
                <a16:creationId xmlns:a16="http://schemas.microsoft.com/office/drawing/2014/main" id="{262C9432-396C-A5D8-1919-CF81C26699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182" y="1998559"/>
            <a:ext cx="5267325" cy="36633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129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E463-B5E6-6CB7-A03E-5F5CAECB1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Our Design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0BFBD9-A408-CBFA-D31A-AC38CB3A5A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3050848"/>
            <a:ext cx="497764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combinational ALU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functional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Multiplication truncation handled correctly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Divide-by-zero protection implemented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Synthesizable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to 16-bit and 32-bit systems</a:t>
            </a:r>
          </a:p>
        </p:txBody>
      </p:sp>
    </p:spTree>
    <p:extLst>
      <p:ext uri="{BB962C8B-B14F-4D97-AF65-F5344CB8AC3E}">
        <p14:creationId xmlns:p14="http://schemas.microsoft.com/office/powerpoint/2010/main" val="298518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F27B2-BF59-755A-6BDE-0A9167CD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Synthesized design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C3296C-D407-63B7-20AC-788286972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7176" y="1667196"/>
            <a:ext cx="5533053" cy="49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4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2300" y="0"/>
            <a:ext cx="103251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                                                               </a:t>
            </a:r>
            <a:r>
              <a:rPr lang="en-US" sz="2400" b="1" dirty="0"/>
              <a:t>Conclusion and Future Scope</a:t>
            </a:r>
          </a:p>
          <a:p>
            <a:r>
              <a:rPr lang="en-US" sz="2400" b="1" dirty="0"/>
              <a:t>Conclusion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Successfully designed 8-bit ALU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Implemented 16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Verified using simulation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Implemented on FPGA hardware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400" b="1" dirty="0"/>
              <a:t>Future Improvements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Add carry, zero and overflow flags</a:t>
            </a:r>
          </a:p>
          <a:p>
            <a:r>
              <a:rPr lang="en-US" sz="2400" dirty="0"/>
              <a:t>Extend to 32 bit ALU</a:t>
            </a:r>
          </a:p>
          <a:p>
            <a:r>
              <a:rPr lang="en-US" sz="2400" dirty="0"/>
              <a:t>Integrate in simple processor</a:t>
            </a:r>
          </a:p>
          <a:p>
            <a:r>
              <a:rPr lang="en-US" sz="2400" dirty="0"/>
              <a:t>      </a:t>
            </a:r>
          </a:p>
          <a:p>
            <a:endParaRPr lang="en-US" sz="2400" dirty="0"/>
          </a:p>
          <a:p>
            <a:r>
              <a:rPr lang="en-US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4974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4231" y="2778160"/>
            <a:ext cx="47371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6672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AA069-1018-0096-1A55-1CE77A6E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034E4A-8FA5-38B4-5ABF-3DFD4CE2C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331237"/>
            <a:ext cx="8938726" cy="6027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5E49FE-0329-54C6-AA80-10CF93779814}"/>
              </a:ext>
            </a:extLst>
          </p:cNvPr>
          <p:cNvSpPr txBox="1"/>
          <p:nvPr/>
        </p:nvSpPr>
        <p:spPr>
          <a:xfrm>
            <a:off x="5458409" y="4872882"/>
            <a:ext cx="7436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ANY QUESTIONS ???</a:t>
            </a:r>
          </a:p>
        </p:txBody>
      </p:sp>
    </p:spTree>
    <p:extLst>
      <p:ext uri="{BB962C8B-B14F-4D97-AF65-F5344CB8AC3E}">
        <p14:creationId xmlns:p14="http://schemas.microsoft.com/office/powerpoint/2010/main" val="9967729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496</TotalTime>
  <Words>503</Words>
  <Application>Microsoft Office PowerPoint</Application>
  <PresentationFormat>Widescreen</PresentationFormat>
  <Paragraphs>159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 AND RESULT</vt:lpstr>
      <vt:lpstr>FPGA Hardware Implementation</vt:lpstr>
      <vt:lpstr>Key Features of Our Design</vt:lpstr>
      <vt:lpstr>Synthesized design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Subhajit Kumar Das</cp:lastModifiedBy>
  <cp:revision>13</cp:revision>
  <dcterms:created xsi:type="dcterms:W3CDTF">2026-02-26T06:34:06Z</dcterms:created>
  <dcterms:modified xsi:type="dcterms:W3CDTF">2026-02-26T18:54:33Z</dcterms:modified>
</cp:coreProperties>
</file>